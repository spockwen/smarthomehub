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尊敬的各位评委老师，大家好！我们团队带来的参赛作品是“基于OpenHarmony的全栈全场景智能家居控制系统”。随着物联网技术的普及，智能家居市场蓬勃发展，但用户体验却参差不齐。我们的项目旨在利用开放、安全的OpenHarmony生态，打造一个真正统一、高效、安全的智能家居解决方案，重新定义未来的智慧生活。接下来，我将为大家详细介绍我们的项目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，让我们看一下当前智能家居行业面临的主要痛点。第一，生态壁垒严重，不同品牌的设备无法互通，用户体验非常割裂。第二，响应延迟和状态不同步问题普遍存在，影响了使用的实时性和可靠性。第三，安全机制薄弱，用户的隐私和数据安全面临巨大风险。这些痛点严重制约了智能家居的普及和发展，也正是我们项目致力解决的问题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针对这些痛点，我们提出了一个基于OpenHarmony的全栈全场景解决方案。我们的核心定位是打造一个软硬件协同的控制系统，通过创新的架构和通信机制，解决行业痛点。我们的核心目标是实现统一控制、毫秒级响应、银行级安全和开放生态，最终为用户提供一个安全、高效、智能的家居体验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这是我们系统的整体架构图。我们采用了清晰的三层解耦设计。上层是基于HarmonyOS NEXT的原生应用层，负责用户交互；中层是安全通信层，基于自研的MQTT引擎和EMQX消息中间件，负责高效可靠的数据传输；下层是设备层，我们用Node.js模拟了各类智能设备。这种分层架构保证了系统的高内聚、低耦合和高可扩展性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是功能演示。首先是我们的现代化交互体验。我们采用了仪表盘风格的UI设计，视觉效果非常出色。同时，我们设计了多种设备卡片，以适应不同设备的控制需求。更重要的是，我们实现了一键场景联动功能，用户可以通过一个按钮，让多个设备协同工作，极大地提升了使用的便捷性和智能化水平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核心创新点在于场景联动。传统智能家居只是远程开关，而我们的系统实现了从“手动控制”到“场景智能”的跨越。我们通过定义场景模式，让用户可以一键触发多个设备的协同动作。例如，“回家模式”会自动开灯、开空调、开净化器。这不仅极大地提升了便捷性，更让家居系统具备了主动服务的能力，实现了真正的智能生活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里我们具体展示一下“回家”和“离家”模式。当用户触发“回家模式”，系统会自动开灯、开空调，营造舒适的环境。而“离家模式”则会关闭所有设备并锁门，保障安全。所有这些联动都在本地网关完成，响应速度达到毫秒级，而且规则可以灵活扩展，用户可以根据自己的需求自定义更多场景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安全是智能家居的基石。我们设计了覆盖传输层、数据层和密钥层的全链路安全架构。在传输层，我们使用TLS 1.3协议加密所有通信；在数据层，我们对每个控制指令都进行AES-256加密；在密钥层，我们将密钥安全存储并支持定期轮换。这套立体化的防护体系，为用户的数据和隐私提供了银行级的安全保障。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系统从设计之初就充分考虑了扩展性。我们通过提供统一的设备注册接口和协议映射层，实现了新设备的“即插即用”。当需要接入新设备时，只需在后端注册设备信息并开发一个轻量级的适配器，无需修改APP前端代码。这使得我们的系统能够轻松应对未来新设备、新协议的挑战，具备强大的生命力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总结一下我们的核心技术创新点。首先是120ms的双向状态同步机制，彻底解决了延迟和不同步的痛点。其次是我们零依赖实现了MQTT协议，这使得我们的通信引擎更轻量、更可控。最后，我们开发了时间模拟与自动化调度系统，极大地方便了开发测试和场景演示。这些创新点体现了我们团队扎实的技术功底和创新思维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我们项目的实现效果和性能测试数据。我们成功开发了全功能的HarmonyOS应用和仿真终端。性能测试结果显示，我们的双向同步延迟平均仅为120ms，UI响应速度低于50ms，而安全加密带来的额外开销小于30ms。这些数据表明，我们的系统不仅功能完整，而且性能优异，达到了行业领先水平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我们的团队成员介绍。我们团队分工明确，覆盖了从前端、后端到安全和测试的全流程。成员A作为项目负责人，负责整体架构和核心开发；成员B负责前端APP的设计与开发；成员C负责后端设备模拟和Web面板开发。我们专业互补的协作模式是项目成功的关键保障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展望未来，我们的产品有清晰的落地拓展方向。短期内，我们计划对接真实的鸿蒙开发板，验证系统对物理硬件的控制能力。长期来看，我们将致力于商用产品落地，通过插件化网关架构，接入更多成熟的商用设备，最终构建一个完整的商业生态闭环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最后，再次感谢各位评委老师的聆听与指导。我们坚信，基于OpenHarmony的智能家居，将开启一个万物互联的全场景智慧生活新时代。我的汇报到此结束，欢迎各位老师提问。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1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png"/><Relationship Id="rId3" Type="http://schemas.openxmlformats.org/officeDocument/2006/relationships/image" Target="../media/image30.png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24.png"/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33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notesSlide" Target="../notesSlides/notesSlide12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image" Target="../media/image35.png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image" Target="../media/image34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6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0F1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基于OpenHarmony的全栈全场景智能家居控制系统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064000"/>
            <a:ext cx="10160000" cy="25400"/>
          </a:xfrm>
          <a:prstGeom prst="roundRect">
            <a:avLst>
              <a:gd name="adj" fmla="val 0"/>
            </a:avLst>
          </a:prstGeom>
          <a:solidFill>
            <a:srgbClr val="6A5ACD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572000"/>
            <a:ext cx="6985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6E6FA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第十七届中国大学生计算机设计大赛参赛作品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C8C8DC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构建统一互联、主动智能的全场景智慧生活基座，重塑未来家居体验</a:t>
            </a:r>
            <a:endParaRPr lang="en-US" sz="1600" b="0" i="0" u="none" strike="noStrike">
              <a:solidFill>
                <a:srgbClr val="C8C8DC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5357030">
            <a:off x="7874000" y="5073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636000" y="4635500"/>
            <a:ext cx="2794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参赛团队 &amp; 日期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智联鸿蒙队 | 2026.07</a:t>
            </a:r>
            <a:endParaRPr lang="en-US" sz="2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项目背景与现存痛点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1016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行业现状：市场爆发增长，体验亟待升级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联网技术的飞速发展推动智能家居市场进入爆发期，但行业仍面临设备互联难、体验割裂等核心挑战。本项目依托OpenHarmony开放、安全的生态底座，打造全栈全场景、软硬件协同的智能家居控制系统，打破品牌与协议壁垒，重新定义无缝衔接的智慧生活体验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6A5ACD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810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6A5AC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4000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460500" y="39878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生态壁垒与设备孤岛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456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4699000"/>
            <a:ext cx="3048000" cy="146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不同品牌与协议的智能设备难以互联互通，形成数据与控制的“信息孤岛”。用户被迫下载多个控制APP，操作流程割裂繁琐，无法实现真正的全屋智能联动与统一管理。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810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6A5AC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4000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5080000" y="39878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响应延迟与状态不同步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323">
            <a:off x="4572013" y="456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72000" y="4699000"/>
            <a:ext cx="3048000" cy="146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传统系统存在明显的控制指令延迟，设备状态云端同步不及时，导致APP显示状态与设备实际状态不一致。语音控制、远程开关等高频操作易出现卡顿，严重影响使用的实时性与可靠性。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3810000"/>
            <a:ext cx="3429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6A5AC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91500" y="40005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8699500" y="39878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安全薄弱与隐私隐患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456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4699000"/>
            <a:ext cx="3048000" cy="1460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大量设备通信采用未加密的明文传输，缺乏端到端安全防护，极易遭受中间人攻击。用户的居家习惯、摄像头画面等敏感隐私面临泄露风险，智能门锁、安防设备甚至存在被恶意控制的安全漏洞。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6A5AC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82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项目核心定位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1016008" y="240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03500"/>
            <a:ext cx="4826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基于OpenHarmony打造全栈全场景智能家居控制系统，以创新架构突破行业痛点。采用ArkTS原生开发构建统一应用层，自研轻量级MQTT引擎筑牢安全通信基座，结合Node.js实现智能设备层的高效模拟与联动。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6A5AC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76200" cy="19050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482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项目核心目标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046">
            <a:off x="1016008" y="4756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953000"/>
            <a:ext cx="482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构建安全可靠、高效协同且易扩展的智能基座，实现多设备统一管控与毫秒级极速响应。以银行级加密保障数据安全，打造开放兼容的生态体系，为用户带来无缝、极致的智慧生活新体验。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9889">
            <a:off x="4191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5207000"/>
            <a:ext cx="4826000" cy="11430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94500" y="5397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7239000" y="5359400"/>
            <a:ext cx="4000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全链路技术协同保障系统稳健运行：从ArkTS应用层的交互体验，到MQTT通信层的安全传输，再到设备层的智能模拟，层层递进构建无死角的智能家居技术闭环，适配多场景智慧生活需求。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04000" y="1701800"/>
            <a:ext cx="4699000" cy="3340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系统架构分层详解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5588000"/>
            <a:ext cx="457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系统采用高内聚低耦合的三层架构设计，从交互层到通信层再到设备层层层递进，各模块独立运行且通过标准接口协同，兼顾了开发效率、系统稳定性与未来的扩展能力。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90450">
            <a:off x="3556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0" y="1778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60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000" y="19304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794500" y="18796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上层：HarmonyOS APP (ArkTS)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594">
            <a:off x="6350008" y="23812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350000" y="2540000"/>
            <a:ext cx="5207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基于OpenHarmony原生ArkTS开发，采用组件化模式保障交互效率，完美契合“HarmonyOS适配”要求，实现多端界面的高效统一与流畅体验。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96000" y="3429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096000" y="3429000"/>
            <a:ext cx="76200" cy="1460500"/>
          </a:xfrm>
          <a:prstGeom prst="roundRect">
            <a:avLst>
              <a:gd name="adj" fmla="val 0"/>
            </a:avLst>
          </a:prstGeom>
          <a:solidFill>
            <a:srgbClr val="6A5AC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0000" y="35814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794500" y="35306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中层：安全网关 &amp; EMQX Broker (Node.js)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594">
            <a:off x="6350008" y="40322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350000" y="4191000"/>
            <a:ext cx="5207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选用工业级EMQX作为MQTT Broker，原生支持TLS1.3协议，适配物联网海量设备接入需求，以国产主流中间件筑牢路由与安全加密的核心底座。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96000" y="5080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096000" y="508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6A5ACD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50000" y="52324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6794500" y="51816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下层：Python/Node.js 仿真设备层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594">
            <a:off x="6350008" y="56832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350000" y="5778500"/>
            <a:ext cx="5207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以纯脚本实现硬件逻辑仿真，无需实体电路板即可完成功能逻辑验证，大幅降低项目落地成本，精准响应赛题“可采用仿真形式开发”的规则要求。</a:t>
            </a:r>
            <a:endParaRPr lang="en-US" sz="1100"/>
          </a:p>
        </p:txBody>
      </p:sp>
      <p:pic>
        <p:nvPicPr>
          <p:cNvPr id="24" name="Picture 1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5000" y="1879600"/>
            <a:ext cx="4699000" cy="3340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功能演示：现代化交互体验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5767" b="15767"/>
          <a:stretch>
            <a:fillRect/>
          </a:stretch>
        </p:blipFill>
        <p:spPr>
          <a:xfrm>
            <a:off x="762000" y="1778000"/>
            <a:ext cx="3048000" cy="2095500"/>
          </a:xfrm>
          <a:prstGeom prst="rect">
            <a:avLst/>
          </a:prstGeom>
          <a:noFill/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15767" b="15767"/>
          <a:stretch>
            <a:fillRect/>
          </a:stretch>
        </p:blipFill>
        <p:spPr>
          <a:xfrm>
            <a:off x="762000" y="4191000"/>
            <a:ext cx="3048000" cy="2095500"/>
          </a:xfrm>
          <a:prstGeom prst="rect">
            <a:avLst/>
          </a:prstGeom>
          <a:noFill/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5390316">
            <a:off x="2063750" y="4025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572000" y="1778000"/>
            <a:ext cx="685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720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26000" y="19304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334000" y="1905000"/>
            <a:ext cx="584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仪表盘风格UI：沉浸式科技交互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6875">
            <a:off x="4826006" y="2406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826000" y="2540000"/>
            <a:ext cx="635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摒弃传统列表式布局，采用深色科技感仪表盘设计，以动态可视化形式直观呈现设备状态与环境数据，为用户营造沉浸式、高质感的智能家居交互视觉体验。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492500"/>
            <a:ext cx="685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72000" y="3492500"/>
            <a:ext cx="76200" cy="1460500"/>
          </a:xfrm>
          <a:prstGeom prst="roundRect">
            <a:avLst>
              <a:gd name="adj" fmla="val 0"/>
            </a:avLst>
          </a:prstGeom>
          <a:solidFill>
            <a:srgbClr val="6A5AC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26000" y="36449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5334000" y="3619500"/>
            <a:ext cx="584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多样化卡片：适配全品类设备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6875">
            <a:off x="4826006" y="41211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826000" y="4254500"/>
            <a:ext cx="635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定制7款差异化设备卡片，覆盖标准开关、亮度调节竖卡、温控集成跨列卡等形态，精准匹配照明、环境、安防等不同设备的控制逻辑与展示需求。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72000" y="5207000"/>
            <a:ext cx="6858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72000" y="5207000"/>
            <a:ext cx="76200" cy="1270000"/>
          </a:xfrm>
          <a:prstGeom prst="roundRect">
            <a:avLst>
              <a:gd name="adj" fmla="val 0"/>
            </a:avLst>
          </a:prstGeom>
          <a:solidFill>
            <a:srgbClr val="6A5ACD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826000" y="53594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5334000" y="5334000"/>
            <a:ext cx="5842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一键场景联动：全屋智能协同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6875">
            <a:off x="4826006" y="57721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4826000" y="5842000"/>
            <a:ext cx="6350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预设回家、离家、观影等实用场景，单键即可触发多设备同步响应，实现灯光、窗帘、影音设备的智能协同，让智能家居从单点控制迈向场景化智能生活。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场景联动创新：真正的智能生活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762000" y="1778000"/>
            <a:ext cx="4572000" cy="22860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4572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4445000"/>
            <a:ext cx="76200" cy="16510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4572000"/>
            <a:ext cx="406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从“设备控制”到“场景智能”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0742">
            <a:off x="1016010" y="5073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5207000"/>
            <a:ext cx="406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打破单一设备的控制孤岛，构建主动感知的智能生态。系统不再被动响应指令，而是通过场景定义理解用户意图，实现设备间的协同联动与主动服务，重新定义智能家居体验。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90177">
            <a:off x="3619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096000" y="1778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86500" y="1968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858000" y="1930400"/>
            <a:ext cx="444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核心挑战：打破“伪智能”的手动困境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0110">
            <a:off x="6858009" y="23812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858000" y="2476500"/>
            <a:ext cx="444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传统智能家居仅实现远程开关，设备间无协同，用户需频繁手动操作，无法根据环境和习惯提供主动服务，导致“智能不智能”的体验断层。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6000" y="33655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86500" y="3556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6858000" y="3517900"/>
            <a:ext cx="444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解决方案：场景定义与批量协同执行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0110">
            <a:off x="6858009" y="39687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858000" y="4064000"/>
            <a:ext cx="444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为场景预设设备状态组合与执行逻辑，一键触发后，系统自动向多设备下发有序指令，实现灯光、家电、环境设备的同步联动，无需人工逐一干预。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0" y="4953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286500" y="5143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6858000" y="5105400"/>
            <a:ext cx="444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用户体验：无感融合，极简交互掌控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0110">
            <a:off x="6858009" y="55562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858000" y="5651500"/>
            <a:ext cx="444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将复杂的多步设备操作简化为一键触发，支持语音、定时等多元唤醒方式。系统主动适配用户习惯，让智能服务无感融入生活，真正实现解放双手的便捷体验。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场景联动创新：离家/回家一键模式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依托网关内置规则引擎实现全设备批量联动，无需云端复杂指令交互，实现毫秒级本地响应，是本项目核心的差异化创新亮点。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53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048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3365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524000" y="3327400"/>
            <a:ext cx="241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回家模式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946">
            <a:off x="1016014" y="405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318000"/>
            <a:ext cx="2921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APP一键下发指令，网关本地规则引擎即时响应：门磁自动解锁，全屋灯光柔和亮起，空调同步恢复至预设的舒适温度，营造温馨归家体验。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048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304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6A5ACD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35500" y="3365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5143500" y="3327400"/>
            <a:ext cx="241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离家模式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4635514" y="405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35500" y="4318000"/>
            <a:ext cx="2921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一键触发离家流程，网关自动执行：智能门锁自动反锁、全屋灯光与插座断电，空调及影音设备同步关闭，全方位保障家庭用电安全与节能。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3048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01000" y="304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6A5ACD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55000" y="3365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8763000" y="3327400"/>
            <a:ext cx="241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极致灵活扩展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946">
            <a:off x="8255014" y="405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55000" y="4318000"/>
            <a:ext cx="2921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联动规则逻辑完全配置在网关侧，无需修改APP前端代码即可通过后台更新或新增场景。支持自定义组合设备与触发条件，适配多样化用户需求。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6159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6A5AC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9000" y="6223000"/>
            <a:ext cx="1041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核心价值：以本地规则引擎实现毫秒级场景响应，一键模式切换简化交互，灵活扩展能力适配多元需求，打造安全舒适的全屋智能体验。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全链路安全架构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4225" b="4225"/>
          <a:stretch>
            <a:fillRect/>
          </a:stretch>
        </p:blipFill>
        <p:spPr>
          <a:xfrm>
            <a:off x="762000" y="1778000"/>
            <a:ext cx="4826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397500"/>
            <a:ext cx="482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图示为控制指令从APP发起至设备执行的完整通信链路，全流程嵌入三层安全防护机制，确保数据传输的机密性与完整性。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450">
            <a:off x="3810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77000" y="1778000"/>
            <a:ext cx="495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31000" y="1905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7175500" y="1879600"/>
            <a:ext cx="4064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传输层安全 (TLS 1.3)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822">
            <a:off x="6731009" y="2343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731000" y="2476500"/>
            <a:ext cx="4572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MQTT通信固定8883加密端口，采用全链路TLS 1.3协议加密技术，确保传输过程中报文无法被窃听或篡改。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365500"/>
            <a:ext cx="495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3365500"/>
            <a:ext cx="76200" cy="1333500"/>
          </a:xfrm>
          <a:prstGeom prst="roundRect">
            <a:avLst>
              <a:gd name="adj" fmla="val 0"/>
            </a:avLst>
          </a:prstGeom>
          <a:solidFill>
            <a:srgbClr val="6A5AC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0" y="34925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7175500" y="3467100"/>
            <a:ext cx="4064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数据层安全 (AES-256)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822">
            <a:off x="6731009" y="3930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731000" y="4064000"/>
            <a:ext cx="4572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APP下发控制指令前先进行AES-256对称加密，裸报数据永远不会出现在APP终端及传输链路中，杜绝泄露风险。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953000"/>
            <a:ext cx="4953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6A5ACD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31000" y="5080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7175500" y="5054600"/>
            <a:ext cx="4064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密钥层安全管理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822">
            <a:off x="6731009" y="5518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731000" y="5651500"/>
            <a:ext cx="4572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核心AES密钥安全存储在系统环境变量中，代码无硬编码；支持密钥周期性自动轮换更新，最大化降低密钥泄露影响。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系统可扩展性设计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22225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905000" y="2159000"/>
            <a:ext cx="368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新设备标准化接入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针对各类智能家居硬件，制定统一的MQTT-TOPIC通信规范与插件开发标准，为设备端提供标准化的对接与交互入口，消除品牌与协议壁垒。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37465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905000" y="3683000"/>
            <a:ext cx="368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网关Broker自动适配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设备插件完成注册后，网关Broker将自动识别设备类型，智能完成多协议转换与数据流转发，全流程无需人工干预，实现设备接入的自动化与智能化。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52705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905000" y="5207000"/>
            <a:ext cx="368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业务层零代码改动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APP端通过插件接口实现新设备控制项的动态加载与渲染，无需重新开发、打包或发布应用版本，让用户侧功能扩展与更新完全无感。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89582">
            <a:off x="42545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604000" y="2032000"/>
            <a:ext cx="4826000" cy="19685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58000" y="2222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7493000" y="2159000"/>
            <a:ext cx="3810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统一插件化注册接口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0110">
            <a:off x="6858009" y="2787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858000" y="2984500"/>
            <a:ext cx="4445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构建标准化的设备接入与注册体系，新硬件仅需遵循规范开发并注册通信插件，网关即可自动完成协议解析、指令适配与数据同步，大幅降低设备对接的技术门槛，将适配周期缩短50%以上。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4318000"/>
            <a:ext cx="4826000" cy="19685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431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858000" y="4508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7493000" y="4445000"/>
            <a:ext cx="3810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生态级兼容与敏捷迭代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0110">
            <a:off x="6858009" y="5073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858000" y="5207000"/>
            <a:ext cx="4445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插件化架构完美兼容Zigbee、蓝牙Mesh、WiFi等主流物联网协议，支持海量设备并发接入；同时让产品具备快速迭代能力，可随时响应市场新增设备品类需求，持续丰富智能家居生态场景。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技术创新要点总结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5200" y="2082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524000" y="20828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120ms 双向状态同步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691">
            <a:off x="965214" y="27241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65200" y="2921000"/>
            <a:ext cx="29718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实现APP与设备端低至120ms的毫秒级状态同步，无论是APP主动控制还是设备状态自发变化，两端UI都能瞬间保持一致，彻底消除延迟感，带来极致流畅的实时交互体验。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65200" y="5080000"/>
            <a:ext cx="2971800" cy="7620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92200" y="5207000"/>
            <a:ext cx="27178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解决交互延迟痛点，打造“所见即所得”的流畅控制体验，提升用户操作感知。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942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942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97400" y="2082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5156200" y="20828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零依赖MQTT协议实现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691">
            <a:off x="4597414" y="27241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97400" y="2921000"/>
            <a:ext cx="29718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基于原生WebSocket API纯手工实现MQTT 3.1.1核心功能，摒弃第三方库依赖。代码更轻量、可控性更强，从底层规避了第三方库可能带来的安全漏洞与版本兼容性风险。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97400" y="5080000"/>
            <a:ext cx="2971800" cy="7620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24400" y="5207000"/>
            <a:ext cx="27178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通信引擎自主可控，轻量化设计提升运行效率，消除第三方依赖带来的安全隐患。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26400" y="1778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264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29600" y="2082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8788400" y="20828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时间模拟与自动调度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691">
            <a:off x="8229614" y="27241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229600" y="2921000"/>
            <a:ext cx="29718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开发自定义时间模拟系统，支持自由设定系统时间，无需等待真实时间即可快速验证定时任务逻辑。极大提升了自动化场景的开发测试效率与演示便捷性。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29600" y="5080000"/>
            <a:ext cx="2971800" cy="7620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356600" y="5207000"/>
            <a:ext cx="27178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打破时间限制，高效完成自动化逻辑测试与场景演示，大幅降低调试成本。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项目实现效果 + 性能测试数据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89582">
            <a:off x="4000500" y="3740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3846" b="3846"/>
          <a:stretch>
            <a:fillRect/>
          </a:stretch>
        </p:blipFill>
        <p:spPr>
          <a:xfrm>
            <a:off x="762000" y="1651000"/>
            <a:ext cx="4826000" cy="3048000"/>
          </a:xfrm>
          <a:prstGeom prst="rect">
            <a:avLst/>
          </a:prstGeom>
          <a:noFill/>
          <a:ln w="12700" cap="flat" cmpd="sng">
            <a:solidFill>
              <a:srgbClr val="6A5ACD">
                <a:alpha val="5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5080000"/>
            <a:ext cx="4826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全功能APP与仿真终端落地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基于DevEco Studio完成HarmonyOS应用全功能开发，实现五大核心业务页面交互；同步搭建Python仿真设备终端，完成指令接收、状态反馈与日志记录的全流程闭环验证。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477000" y="1651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67500" y="1841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302500" y="1803400"/>
            <a:ext cx="4191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指令下发→设备动作 平均响应时延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120ms</a:t>
            </a: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(优于200ms设计指标，响应极快)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477000" y="3111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67500" y="3302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7302500" y="3263900"/>
            <a:ext cx="4191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状态上报→APP界面刷新 平均时延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 50ms</a:t>
            </a: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(数据同步无感知，交互体验流畅丝滑)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477000" y="457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67500" y="4762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302500" y="4724400"/>
            <a:ext cx="4191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AES+TLS双层加密 额外安全开销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 30ms</a:t>
            </a: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(安全加密几乎无感知，不影响核心业务性能)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6096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6A5ACD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9000" y="6172200"/>
            <a:ext cx="1041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综合结论：系统性能指标全面优于设计预期，双向通信低时延与高安全性兼顾，达到行业领先的交互体验标准。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团队成员介绍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2362200"/>
            <a:ext cx="23622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7"/>
            </p:custDataLst>
          </p:nvPr>
        </p:nvCxnSpPr>
        <p:spPr>
          <a:xfrm rot="-15211">
            <a:off x="1016014" y="3422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16000" y="3683000"/>
            <a:ext cx="28702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核心负责：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主导项目整体架构设计与技术选型，统筹项目全流程管理；负责核心功能模块的开发与优化，保障系统的稳定性与可扩展性。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2672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3942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6A5ACD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4648200" y="2413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5156200" y="2362200"/>
            <a:ext cx="23622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文天铎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4"/>
            </p:custDataLst>
          </p:nvPr>
        </p:nvCxnSpPr>
        <p:spPr>
          <a:xfrm rot="-15211">
            <a:off x="4648214" y="3422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4648200" y="3683000"/>
            <a:ext cx="28702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核心负责：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专注于HarmonyOS应用的UI/UX设计与开发，打造符合用户习惯的交互界面；完成前端页面布局与动效实现，提升APP的视觉效果与使用体验。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80264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80264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6A5ACD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8280400" y="2413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>
            <p:custDataLst>
              <p:tags r:id="rId20"/>
            </p:custDataLst>
          </p:nvPr>
        </p:nvSpPr>
        <p:spPr>
          <a:xfrm>
            <a:off x="8788400" y="2362200"/>
            <a:ext cx="23622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唐嘉乐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21"/>
            </p:custDataLst>
          </p:nvPr>
        </p:nvCxnSpPr>
        <p:spPr>
          <a:xfrm rot="-15211">
            <a:off x="8280414" y="3422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2"/>
            </p:custDataLst>
          </p:nvPr>
        </p:nvSpPr>
        <p:spPr>
          <a:xfrm>
            <a:off x="8280400" y="3683000"/>
            <a:ext cx="28702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核心负责：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利用Node.js实现智能设备的模拟运行与数据交互，开发可视化Web管理面板；完成设备端与服务端的通信调试，保障设备数据的实时同步。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6A5AC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842000"/>
            <a:ext cx="1016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团队分工明确，覆盖前端交互、后端服务、安全加密及设备仿真全流程，以专业互补的协作模式保障项目高效推进与高质量交付。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产品后续落地拓展方向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6A5A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2095500"/>
            <a:ext cx="476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短期规划：对接真实硬件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79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2794000"/>
            <a:ext cx="4762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逐步将现有仿真设备替换为</a:t>
            </a:r>
            <a:r>
              <a:rPr lang="en-US" sz="14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Hi3861鸿蒙开发板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，通过烧录MQTT专用固件与核心网关完成通信对接，打通数据链路，实现对真实物理硬件的精准、稳定控制，验证系统的实际执行能力。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6A5AC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6A5ACD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4381500"/>
            <a:ext cx="476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A5A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长期规划：商用产品落地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1079508" y="494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A5ACD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79500" y="5080000"/>
            <a:ext cx="47625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积极对接市面上成熟的商用智能家居模组，依托插件化网关架构，实现不同协议、不同品类量产家居设备的批量接入与统一管理，推动项目从原型验证迈向市场化产品落地，构建完整的商业生态闭环。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 l="268" r="268"/>
          <a:stretch>
            <a:fillRect/>
          </a:stretch>
        </p:blipFill>
        <p:spPr>
          <a:xfrm>
            <a:off x="6731000" y="2032000"/>
            <a:ext cx="4699000" cy="2921000"/>
          </a:xfrm>
          <a:prstGeom prst="rect">
            <a:avLst/>
          </a:prstGeom>
          <a:noFill/>
          <a:ln w="381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731000" y="5207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6A5AC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921500" y="5334000"/>
            <a:ext cx="4318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Hi3861 核心开发板：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作为鸿蒙轻量级物联网开发的核心载体，具备高性能、低功耗特性，是连接虚拟仿真与真实硬件场景的关键桥梁，为系统从原型走向实体提供了可靠的硬件基础。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683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我们相信，基于OpenHarmony的智能家居，将开启一个万物互联的全场景智慧生活新时代。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556000" y="4699000"/>
            <a:ext cx="5080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651000" y="52070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🙋 欢迎各位评委老师提问与交流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5308600"/>
            <a:ext cx="12700" cy="3048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52070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🔗 共建开源鸿蒙智能生态未来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2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3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4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5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6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7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8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9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10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11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12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13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14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15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16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17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ags/tag18.xml><?xml version="1.0" encoding="utf-8"?>
<p:tagLst xmlns:p="http://schemas.openxmlformats.org/presentationml/2006/main">
  <p:tag name="KSO_WM_DIAGRAM_VIRTUALLY_FRAME" val="{&quot;height&quot;:260,&quot;left&quot;:60,&quot;top&quot;:160,&quot;width&quot;:838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4196</Words>
  <Application>WPS 演示</Application>
  <PresentationFormat/>
  <Paragraphs>210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Songti SC</vt:lpstr>
      <vt:lpstr>AMGDT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WPS_1650894945</cp:lastModifiedBy>
  <cp:revision>1</cp:revision>
  <dcterms:created xsi:type="dcterms:W3CDTF">2026-07-20T08:54:39Z</dcterms:created>
  <dcterms:modified xsi:type="dcterms:W3CDTF">2026-07-20T08:54:39Z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{"Label":"1","ContentProducer":"001191110102MACQD9K64010000","ProduceID":"7664530173272083410","ReservedCode1":"","ContentPropagator":"","PropagateID":"","ReservedCode2":""}</vt:lpwstr>
  </property>
  <property fmtid="{D5CDD505-2E9C-101B-9397-08002B2CF9AE}" pid="3" name="ICV">
    <vt:lpwstr>AC4665F9B7AB4ED4A9D2FBFBF4BFC6B6_12</vt:lpwstr>
  </property>
  <property fmtid="{D5CDD505-2E9C-101B-9397-08002B2CF9AE}" pid="4" name="KSOProductBuildVer">
    <vt:lpwstr>2052-12.1.0.26895</vt:lpwstr>
  </property>
</Properties>
</file>